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40" d="100"/>
          <a:sy n="140" d="100"/>
        </p:scale>
        <p:origin x="774" y="10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sley de Jesus Silva" userId="ecc9059c-84fc-47c8-a3b7-6c41ab49b338" providerId="ADAL" clId="{EB751CCB-4681-4147-8A8E-5002C4950D80}"/>
    <pc:docChg chg="undo custSel modSld">
      <pc:chgData name="Wesley de Jesus Silva" userId="ecc9059c-84fc-47c8-a3b7-6c41ab49b338" providerId="ADAL" clId="{EB751CCB-4681-4147-8A8E-5002C4950D80}" dt="2026-05-07T17:53:13.491" v="335" actId="255"/>
      <pc:docMkLst>
        <pc:docMk/>
      </pc:docMkLst>
      <pc:sldChg chg="modSp mod">
        <pc:chgData name="Wesley de Jesus Silva" userId="ecc9059c-84fc-47c8-a3b7-6c41ab49b338" providerId="ADAL" clId="{EB751CCB-4681-4147-8A8E-5002C4950D80}" dt="2026-05-07T17:40:41.091" v="28" actId="255"/>
        <pc:sldMkLst>
          <pc:docMk/>
          <pc:sldMk cId="0" sldId="257"/>
        </pc:sldMkLst>
        <pc:spChg chg="mod">
          <ac:chgData name="Wesley de Jesus Silva" userId="ecc9059c-84fc-47c8-a3b7-6c41ab49b338" providerId="ADAL" clId="{EB751CCB-4681-4147-8A8E-5002C4950D80}" dt="2026-05-07T17:39:32.293" v="13" actId="255"/>
          <ac:spMkLst>
            <pc:docMk/>
            <pc:sldMk cId="0" sldId="257"/>
            <ac:spMk id="3" creationId="{00000000-0000-0000-0000-000000000000}"/>
          </ac:spMkLst>
        </pc:spChg>
        <pc:spChg chg="mod">
          <ac:chgData name="Wesley de Jesus Silva" userId="ecc9059c-84fc-47c8-a3b7-6c41ab49b338" providerId="ADAL" clId="{EB751CCB-4681-4147-8A8E-5002C4950D80}" dt="2026-05-07T17:40:41.091" v="28" actId="255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Wesley de Jesus Silva" userId="ecc9059c-84fc-47c8-a3b7-6c41ab49b338" providerId="ADAL" clId="{EB751CCB-4681-4147-8A8E-5002C4950D80}" dt="2026-05-07T17:53:13.491" v="335" actId="255"/>
        <pc:sldMkLst>
          <pc:docMk/>
          <pc:sldMk cId="0" sldId="258"/>
        </pc:sldMkLst>
        <pc:spChg chg="mod">
          <ac:chgData name="Wesley de Jesus Silva" userId="ecc9059c-84fc-47c8-a3b7-6c41ab49b338" providerId="ADAL" clId="{EB751CCB-4681-4147-8A8E-5002C4950D80}" dt="2026-05-07T17:51:13.934" v="272" actId="255"/>
          <ac:spMkLst>
            <pc:docMk/>
            <pc:sldMk cId="0" sldId="258"/>
            <ac:spMk id="3" creationId="{00000000-0000-0000-0000-000000000000}"/>
          </ac:spMkLst>
        </pc:spChg>
        <pc:spChg chg="mod">
          <ac:chgData name="Wesley de Jesus Silva" userId="ecc9059c-84fc-47c8-a3b7-6c41ab49b338" providerId="ADAL" clId="{EB751CCB-4681-4147-8A8E-5002C4950D80}" dt="2026-05-07T17:53:13.491" v="335" actId="255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Wesley de Jesus Silva" userId="ecc9059c-84fc-47c8-a3b7-6c41ab49b338" providerId="ADAL" clId="{EB751CCB-4681-4147-8A8E-5002C4950D80}" dt="2026-05-07T17:41:08.686" v="36" actId="27636"/>
        <pc:sldMkLst>
          <pc:docMk/>
          <pc:sldMk cId="0" sldId="259"/>
        </pc:sldMkLst>
        <pc:spChg chg="mod">
          <ac:chgData name="Wesley de Jesus Silva" userId="ecc9059c-84fc-47c8-a3b7-6c41ab49b338" providerId="ADAL" clId="{EB751CCB-4681-4147-8A8E-5002C4950D80}" dt="2026-05-07T17:41:08.682" v="35" actId="27636"/>
          <ac:spMkLst>
            <pc:docMk/>
            <pc:sldMk cId="0" sldId="259"/>
            <ac:spMk id="3" creationId="{00000000-0000-0000-0000-000000000000}"/>
          </ac:spMkLst>
        </pc:spChg>
        <pc:spChg chg="mod">
          <ac:chgData name="Wesley de Jesus Silva" userId="ecc9059c-84fc-47c8-a3b7-6c41ab49b338" providerId="ADAL" clId="{EB751CCB-4681-4147-8A8E-5002C4950D80}" dt="2026-05-07T17:41:08.686" v="36" actId="27636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Wesley de Jesus Silva" userId="ecc9059c-84fc-47c8-a3b7-6c41ab49b338" providerId="ADAL" clId="{EB751CCB-4681-4147-8A8E-5002C4950D80}" dt="2026-05-07T17:47:06.639" v="164" actId="6549"/>
        <pc:sldMkLst>
          <pc:docMk/>
          <pc:sldMk cId="0" sldId="260"/>
        </pc:sldMkLst>
        <pc:spChg chg="mod">
          <ac:chgData name="Wesley de Jesus Silva" userId="ecc9059c-84fc-47c8-a3b7-6c41ab49b338" providerId="ADAL" clId="{EB751CCB-4681-4147-8A8E-5002C4950D80}" dt="2026-05-07T17:41:17.810" v="37" actId="255"/>
          <ac:spMkLst>
            <pc:docMk/>
            <pc:sldMk cId="0" sldId="260"/>
            <ac:spMk id="3" creationId="{00000000-0000-0000-0000-000000000000}"/>
          </ac:spMkLst>
        </pc:spChg>
        <pc:spChg chg="mod">
          <ac:chgData name="Wesley de Jesus Silva" userId="ecc9059c-84fc-47c8-a3b7-6c41ab49b338" providerId="ADAL" clId="{EB751CCB-4681-4147-8A8E-5002C4950D80}" dt="2026-05-07T17:47:06.639" v="164" actId="6549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Wesley de Jesus Silva" userId="ecc9059c-84fc-47c8-a3b7-6c41ab49b338" providerId="ADAL" clId="{EB751CCB-4681-4147-8A8E-5002C4950D80}" dt="2026-05-07T17:50:58.486" v="269" actId="255"/>
        <pc:sldMkLst>
          <pc:docMk/>
          <pc:sldMk cId="0" sldId="261"/>
        </pc:sldMkLst>
        <pc:spChg chg="mod">
          <ac:chgData name="Wesley de Jesus Silva" userId="ecc9059c-84fc-47c8-a3b7-6c41ab49b338" providerId="ADAL" clId="{EB751CCB-4681-4147-8A8E-5002C4950D80}" dt="2026-05-07T17:50:58.486" v="269" actId="255"/>
          <ac:spMkLst>
            <pc:docMk/>
            <pc:sldMk cId="0" sldId="261"/>
            <ac:spMk id="3" creationId="{00000000-0000-0000-0000-000000000000}"/>
          </ac:spMkLst>
        </pc:spChg>
        <pc:spChg chg="mod">
          <ac:chgData name="Wesley de Jesus Silva" userId="ecc9059c-84fc-47c8-a3b7-6c41ab49b338" providerId="ADAL" clId="{EB751CCB-4681-4147-8A8E-5002C4950D80}" dt="2026-05-07T17:50:39.048" v="267" actId="20577"/>
          <ac:spMkLst>
            <pc:docMk/>
            <pc:sldMk cId="0" sldId="26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Speaker notes go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Proposta de indicadores PFGP 2030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br/>
            <a:br/>
            <a:r>
              <a:t>CGINF/DIGID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Dimensão</a:t>
            </a:r>
            <a:r>
              <a:rPr dirty="0"/>
              <a:t> 1: </a:t>
            </a:r>
            <a:r>
              <a:rPr dirty="0" err="1"/>
              <a:t>Planejamento</a:t>
            </a:r>
            <a:r>
              <a:rPr dirty="0"/>
              <a:t> da </a:t>
            </a:r>
            <a:r>
              <a:rPr dirty="0" err="1"/>
              <a:t>Força</a:t>
            </a:r>
            <a:r>
              <a:rPr dirty="0"/>
              <a:t> de </a:t>
            </a:r>
            <a:r>
              <a:rPr dirty="0" err="1"/>
              <a:t>Trabalho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sz="1400" dirty="0"/>
              <a:t>Como </a:t>
            </a:r>
            <a:r>
              <a:rPr sz="1400" dirty="0" err="1"/>
              <a:t>Estava</a:t>
            </a:r>
            <a:endParaRPr sz="1400" dirty="0"/>
          </a:p>
          <a:p>
            <a:pPr lvl="0"/>
            <a:r>
              <a:rPr sz="1400" dirty="0"/>
              <a:t>Percentual de </a:t>
            </a:r>
            <a:r>
              <a:rPr sz="1400" dirty="0" err="1"/>
              <a:t>órgãos</a:t>
            </a:r>
            <a:r>
              <a:rPr sz="1400" dirty="0"/>
              <a:t> com DFT </a:t>
            </a:r>
            <a:r>
              <a:rPr sz="1400" dirty="0" err="1"/>
              <a:t>formalizado</a:t>
            </a:r>
            <a:r>
              <a:rPr sz="1400" dirty="0"/>
              <a:t>, </a:t>
            </a:r>
            <a:r>
              <a:rPr sz="1400" dirty="0" err="1"/>
              <a:t>validado</a:t>
            </a:r>
            <a:r>
              <a:rPr sz="1400" dirty="0"/>
              <a:t> e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execução</a:t>
            </a:r>
            <a:r>
              <a:rPr sz="1400" dirty="0"/>
              <a:t>.</a:t>
            </a:r>
          </a:p>
          <a:p>
            <a:pPr lvl="0"/>
            <a:r>
              <a:rPr sz="1400" dirty="0"/>
              <a:t>Percentual de </a:t>
            </a:r>
            <a:r>
              <a:rPr sz="1400" dirty="0" err="1"/>
              <a:t>movimentações</a:t>
            </a:r>
            <a:r>
              <a:rPr sz="1400" dirty="0"/>
              <a:t> </a:t>
            </a:r>
            <a:r>
              <a:rPr sz="1400" dirty="0" err="1"/>
              <a:t>baseadas</a:t>
            </a:r>
            <a:r>
              <a:rPr sz="1400" dirty="0"/>
              <a:t>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planejamento</a:t>
            </a:r>
            <a:r>
              <a:rPr sz="1400" dirty="0"/>
              <a:t> </a:t>
            </a:r>
            <a:r>
              <a:rPr sz="1400" dirty="0" err="1"/>
              <a:t>prévio</a:t>
            </a:r>
            <a:endParaRPr sz="1400" dirty="0"/>
          </a:p>
          <a:p>
            <a:pPr lvl="0"/>
            <a:r>
              <a:rPr sz="1400" dirty="0"/>
              <a:t>Percentual de </a:t>
            </a:r>
            <a:r>
              <a:rPr sz="1400" dirty="0" err="1"/>
              <a:t>ingressos</a:t>
            </a:r>
            <a:r>
              <a:rPr sz="1400" dirty="0"/>
              <a:t> </a:t>
            </a:r>
            <a:r>
              <a:rPr sz="1400" dirty="0" err="1"/>
              <a:t>baseados</a:t>
            </a:r>
            <a:r>
              <a:rPr sz="1400" dirty="0"/>
              <a:t>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planejamento</a:t>
            </a:r>
            <a:r>
              <a:rPr sz="1400" dirty="0"/>
              <a:t> </a:t>
            </a:r>
            <a:r>
              <a:rPr sz="1400" dirty="0" err="1"/>
              <a:t>prévio</a:t>
            </a:r>
            <a:endParaRPr sz="1400" dirty="0"/>
          </a:p>
          <a:p>
            <a:pPr lvl="0"/>
            <a:r>
              <a:rPr sz="1400" dirty="0"/>
              <a:t>Percentual de </a:t>
            </a:r>
            <a:r>
              <a:rPr sz="1400" dirty="0" err="1"/>
              <a:t>Pessoas</a:t>
            </a:r>
            <a:r>
              <a:rPr sz="1400" dirty="0"/>
              <a:t> Negras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Liderança</a:t>
            </a:r>
            <a:endParaRPr sz="1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sz="1200" dirty="0" err="1"/>
              <a:t>Proposta</a:t>
            </a:r>
            <a:endParaRPr sz="1200" dirty="0"/>
          </a:p>
          <a:p>
            <a:pPr lvl="0"/>
            <a:r>
              <a:rPr sz="1200" dirty="0"/>
              <a:t>% de </a:t>
            </a:r>
            <a:r>
              <a:rPr sz="1200" dirty="0" err="1"/>
              <a:t>órgãos</a:t>
            </a:r>
            <a:r>
              <a:rPr sz="1200" dirty="0"/>
              <a:t> com DDFT </a:t>
            </a:r>
            <a:r>
              <a:rPr sz="1200" dirty="0" err="1"/>
              <a:t>atualizado</a:t>
            </a:r>
            <a:r>
              <a:rPr sz="1200" dirty="0"/>
              <a:t> e </a:t>
            </a:r>
            <a:r>
              <a:rPr sz="1200" dirty="0" err="1"/>
              <a:t>sistematizado</a:t>
            </a:r>
            <a:endParaRPr sz="1200" dirty="0"/>
          </a:p>
          <a:p>
            <a:pPr lvl="0"/>
            <a:r>
              <a:rPr sz="1200" dirty="0"/>
              <a:t>% de </a:t>
            </a:r>
            <a:r>
              <a:rPr sz="1200" dirty="0" err="1"/>
              <a:t>atendimento</a:t>
            </a:r>
            <a:r>
              <a:rPr sz="1200" dirty="0"/>
              <a:t> </a:t>
            </a:r>
            <a:r>
              <a:rPr sz="1200" dirty="0" err="1"/>
              <a:t>ao</a:t>
            </a:r>
            <a:r>
              <a:rPr sz="1200" dirty="0"/>
              <a:t> DDFT</a:t>
            </a:r>
          </a:p>
          <a:p>
            <a:pPr lvl="0"/>
            <a:r>
              <a:rPr sz="1200" dirty="0" err="1"/>
              <a:t>equidade</a:t>
            </a:r>
            <a:r>
              <a:rPr sz="1200" dirty="0"/>
              <a:t> de </a:t>
            </a:r>
            <a:r>
              <a:rPr sz="1200" dirty="0" err="1"/>
              <a:t>distribuição</a:t>
            </a:r>
            <a:r>
              <a:rPr sz="1200" dirty="0"/>
              <a:t> dos </a:t>
            </a:r>
            <a:r>
              <a:rPr sz="1200" dirty="0" err="1"/>
              <a:t>servidores</a:t>
            </a:r>
            <a:r>
              <a:rPr sz="1200" dirty="0"/>
              <a:t> </a:t>
            </a:r>
            <a:r>
              <a:rPr sz="1200" dirty="0" err="1"/>
              <a:t>públicos</a:t>
            </a:r>
            <a:r>
              <a:rPr sz="1200" dirty="0"/>
              <a:t>, vis a vis </a:t>
            </a:r>
            <a:r>
              <a:rPr sz="1200" dirty="0" err="1"/>
              <a:t>distribuição</a:t>
            </a:r>
            <a:r>
              <a:rPr sz="1200" dirty="0"/>
              <a:t> </a:t>
            </a:r>
            <a:r>
              <a:rPr sz="1200" dirty="0" err="1"/>
              <a:t>demográfica</a:t>
            </a:r>
            <a:r>
              <a:rPr sz="1200" dirty="0"/>
              <a:t> </a:t>
            </a:r>
            <a:r>
              <a:rPr sz="1200" dirty="0" err="1"/>
              <a:t>na</a:t>
            </a:r>
            <a:r>
              <a:rPr sz="1200" dirty="0"/>
              <a:t> </a:t>
            </a:r>
            <a:r>
              <a:rPr sz="1200" dirty="0" err="1"/>
              <a:t>população</a:t>
            </a:r>
            <a:r>
              <a:rPr sz="1200" dirty="0"/>
              <a:t>, </a:t>
            </a:r>
            <a:r>
              <a:rPr sz="1200" dirty="0" err="1"/>
              <a:t>por</a:t>
            </a:r>
            <a:r>
              <a:rPr sz="1200" dirty="0"/>
              <a:t>: 1) </a:t>
            </a:r>
            <a:r>
              <a:rPr sz="1200" dirty="0" err="1"/>
              <a:t>gênero</a:t>
            </a:r>
            <a:r>
              <a:rPr sz="1200" dirty="0"/>
              <a:t>; 2) </a:t>
            </a:r>
            <a:r>
              <a:rPr sz="1200" dirty="0" err="1"/>
              <a:t>raça</a:t>
            </a:r>
            <a:r>
              <a:rPr sz="1200" dirty="0"/>
              <a:t>; 3) </a:t>
            </a:r>
            <a:r>
              <a:rPr sz="1200" dirty="0" err="1"/>
              <a:t>origem</a:t>
            </a:r>
            <a:r>
              <a:rPr sz="1200" dirty="0"/>
              <a:t> territorial; 4) </a:t>
            </a:r>
            <a:r>
              <a:rPr sz="1200" dirty="0" err="1"/>
              <a:t>faixa</a:t>
            </a:r>
            <a:r>
              <a:rPr sz="1200" dirty="0"/>
              <a:t> </a:t>
            </a:r>
            <a:r>
              <a:rPr sz="1200" dirty="0" err="1"/>
              <a:t>etária</a:t>
            </a:r>
            <a:endParaRPr sz="1200" dirty="0"/>
          </a:p>
          <a:p>
            <a:pPr lvl="0"/>
            <a:r>
              <a:rPr sz="1200" dirty="0" err="1"/>
              <a:t>indicador</a:t>
            </a:r>
            <a:r>
              <a:rPr sz="1200" dirty="0"/>
              <a:t> de </a:t>
            </a:r>
            <a:r>
              <a:rPr sz="1200" dirty="0" err="1"/>
              <a:t>distribuição</a:t>
            </a:r>
            <a:r>
              <a:rPr sz="1200" dirty="0"/>
              <a:t> </a:t>
            </a:r>
            <a:r>
              <a:rPr sz="1200" dirty="0" err="1"/>
              <a:t>planejada</a:t>
            </a:r>
            <a:r>
              <a:rPr sz="1200" dirty="0"/>
              <a:t> </a:t>
            </a:r>
            <a:r>
              <a:rPr sz="1200" dirty="0" err="1"/>
              <a:t>por</a:t>
            </a:r>
            <a:r>
              <a:rPr sz="1200" dirty="0"/>
              <a:t> forma de </a:t>
            </a:r>
            <a:r>
              <a:rPr sz="1200" dirty="0" err="1"/>
              <a:t>provimento</a:t>
            </a:r>
            <a:r>
              <a:rPr sz="1200" dirty="0"/>
              <a:t> (</a:t>
            </a:r>
            <a:r>
              <a:rPr sz="1200" dirty="0" err="1"/>
              <a:t>estatutário</a:t>
            </a:r>
            <a:r>
              <a:rPr sz="1200" dirty="0"/>
              <a:t>, </a:t>
            </a:r>
            <a:r>
              <a:rPr sz="1200" dirty="0" err="1"/>
              <a:t>temporário</a:t>
            </a:r>
            <a:r>
              <a:rPr sz="1200" dirty="0"/>
              <a:t>, </a:t>
            </a:r>
            <a:r>
              <a:rPr sz="1200" dirty="0" err="1"/>
              <a:t>emprego</a:t>
            </a:r>
            <a:r>
              <a:rPr sz="1200" dirty="0"/>
              <a:t> </a:t>
            </a:r>
            <a:r>
              <a:rPr sz="1200" dirty="0" err="1"/>
              <a:t>público</a:t>
            </a:r>
            <a:r>
              <a:rPr sz="1200" dirty="0"/>
              <a:t>, </a:t>
            </a:r>
            <a:r>
              <a:rPr sz="1200" dirty="0" err="1"/>
              <a:t>comissionado</a:t>
            </a:r>
            <a:r>
              <a:rPr sz="1200" dirty="0"/>
              <a:t>) (?)</a:t>
            </a:r>
          </a:p>
          <a:p>
            <a:pPr lvl="0"/>
            <a:r>
              <a:rPr sz="1200" dirty="0" err="1"/>
              <a:t>indicador</a:t>
            </a:r>
            <a:r>
              <a:rPr sz="1200" dirty="0"/>
              <a:t> de </a:t>
            </a:r>
            <a:r>
              <a:rPr sz="1200" dirty="0" err="1"/>
              <a:t>distribuição</a:t>
            </a:r>
            <a:r>
              <a:rPr sz="1200" dirty="0"/>
              <a:t> </a:t>
            </a:r>
            <a:r>
              <a:rPr sz="1200" dirty="0" err="1"/>
              <a:t>atual</a:t>
            </a:r>
            <a:r>
              <a:rPr sz="1200" dirty="0"/>
              <a:t> </a:t>
            </a:r>
            <a:r>
              <a:rPr sz="1200" dirty="0" err="1"/>
              <a:t>por</a:t>
            </a:r>
            <a:r>
              <a:rPr sz="1200" dirty="0"/>
              <a:t> forma de </a:t>
            </a:r>
            <a:r>
              <a:rPr sz="1200" dirty="0" err="1"/>
              <a:t>provimento</a:t>
            </a:r>
            <a:r>
              <a:rPr sz="1200" dirty="0"/>
              <a:t> (</a:t>
            </a:r>
            <a:r>
              <a:rPr sz="1200" dirty="0" err="1"/>
              <a:t>estatutário</a:t>
            </a:r>
            <a:r>
              <a:rPr sz="1200" dirty="0"/>
              <a:t>, </a:t>
            </a:r>
            <a:r>
              <a:rPr sz="1200" dirty="0" err="1"/>
              <a:t>temporário</a:t>
            </a:r>
            <a:r>
              <a:rPr sz="1200" dirty="0"/>
              <a:t>, </a:t>
            </a:r>
            <a:r>
              <a:rPr sz="1200" dirty="0" err="1"/>
              <a:t>emprego</a:t>
            </a:r>
            <a:r>
              <a:rPr sz="1200" dirty="0"/>
              <a:t> </a:t>
            </a:r>
            <a:r>
              <a:rPr sz="1200" dirty="0" err="1"/>
              <a:t>público</a:t>
            </a:r>
            <a:r>
              <a:rPr sz="1200" dirty="0"/>
              <a:t>, </a:t>
            </a:r>
            <a:r>
              <a:rPr sz="1200" dirty="0" err="1"/>
              <a:t>comissionado</a:t>
            </a:r>
            <a:r>
              <a:rPr sz="1200" dirty="0"/>
              <a:t>) (?)</a:t>
            </a:r>
          </a:p>
          <a:p>
            <a:pPr lvl="0"/>
            <a:r>
              <a:rPr sz="1200" dirty="0"/>
              <a:t>% de </a:t>
            </a:r>
            <a:r>
              <a:rPr sz="1200" dirty="0" err="1"/>
              <a:t>servidores</a:t>
            </a:r>
            <a:r>
              <a:rPr sz="1200" dirty="0"/>
              <a:t> (de </a:t>
            </a:r>
            <a:r>
              <a:rPr sz="1200" dirty="0" err="1"/>
              <a:t>carreiras</a:t>
            </a:r>
            <a:r>
              <a:rPr sz="1200" dirty="0"/>
              <a:t> </a:t>
            </a:r>
            <a:r>
              <a:rPr sz="1200" dirty="0" err="1"/>
              <a:t>transversais</a:t>
            </a:r>
            <a:r>
              <a:rPr sz="1200" dirty="0"/>
              <a:t> / </a:t>
            </a:r>
            <a:r>
              <a:rPr sz="1200" dirty="0" err="1"/>
              <a:t>não</a:t>
            </a:r>
            <a:r>
              <a:rPr sz="1200" dirty="0"/>
              <a:t> </a:t>
            </a:r>
            <a:r>
              <a:rPr sz="1200" dirty="0" err="1"/>
              <a:t>transversais</a:t>
            </a:r>
            <a:r>
              <a:rPr sz="1200" dirty="0"/>
              <a:t>) que se </a:t>
            </a:r>
            <a:r>
              <a:rPr sz="1200" dirty="0" err="1"/>
              <a:t>movimentaram</a:t>
            </a:r>
            <a:r>
              <a:rPr sz="1200" dirty="0"/>
              <a:t> (entre </a:t>
            </a:r>
            <a:r>
              <a:rPr sz="1200" dirty="0" err="1"/>
              <a:t>áreas</a:t>
            </a:r>
            <a:r>
              <a:rPr sz="1200" dirty="0"/>
              <a:t> </a:t>
            </a:r>
            <a:r>
              <a:rPr sz="1200" dirty="0" err="1"/>
              <a:t>temáticas</a:t>
            </a:r>
            <a:r>
              <a:rPr sz="1200" dirty="0"/>
              <a:t>, entre </a:t>
            </a:r>
            <a:r>
              <a:rPr sz="1200" dirty="0" err="1"/>
              <a:t>órgãos</a:t>
            </a:r>
            <a:r>
              <a:rPr sz="1200" dirty="0"/>
              <a:t>, entre </a:t>
            </a:r>
            <a:r>
              <a:rPr sz="1200" dirty="0" err="1"/>
              <a:t>secretarias</a:t>
            </a:r>
            <a:r>
              <a:rPr sz="1200" dirty="0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Dimensão 2: Carreiras, Cargos e Progressão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sz="1400" dirty="0"/>
              <a:t>Como </a:t>
            </a:r>
            <a:r>
              <a:rPr sz="1400" dirty="0" err="1"/>
              <a:t>Estava</a:t>
            </a:r>
            <a:endParaRPr sz="1400" dirty="0"/>
          </a:p>
          <a:p>
            <a:pPr lvl="0"/>
            <a:r>
              <a:rPr sz="1400" dirty="0" err="1"/>
              <a:t>Redução</a:t>
            </a:r>
            <a:r>
              <a:rPr sz="1400" dirty="0"/>
              <a:t> do </a:t>
            </a:r>
            <a:r>
              <a:rPr sz="1400" dirty="0" err="1"/>
              <a:t>número</a:t>
            </a:r>
            <a:r>
              <a:rPr sz="1400" dirty="0"/>
              <a:t> de </a:t>
            </a:r>
            <a:r>
              <a:rPr sz="1400" dirty="0" err="1"/>
              <a:t>estruturas</a:t>
            </a:r>
            <a:r>
              <a:rPr sz="1400" dirty="0"/>
              <a:t> </a:t>
            </a:r>
            <a:r>
              <a:rPr sz="1400" dirty="0" err="1"/>
              <a:t>excessivamente</a:t>
            </a:r>
            <a:r>
              <a:rPr sz="1400" dirty="0"/>
              <a:t> </a:t>
            </a:r>
            <a:r>
              <a:rPr sz="1400" dirty="0" err="1"/>
              <a:t>fragmentadas</a:t>
            </a:r>
            <a:endParaRPr sz="1400" dirty="0"/>
          </a:p>
          <a:p>
            <a:pPr lvl="0"/>
            <a:r>
              <a:rPr sz="1400" dirty="0"/>
              <a:t>Percentual de </a:t>
            </a:r>
            <a:r>
              <a:rPr sz="1400" dirty="0" err="1"/>
              <a:t>carreiras</a:t>
            </a:r>
            <a:r>
              <a:rPr sz="1400" dirty="0"/>
              <a:t> com </a:t>
            </a:r>
            <a:r>
              <a:rPr sz="1400" dirty="0" err="1"/>
              <a:t>desenho</a:t>
            </a:r>
            <a:r>
              <a:rPr sz="1400" dirty="0"/>
              <a:t> </a:t>
            </a:r>
            <a:r>
              <a:rPr sz="1400" dirty="0" err="1"/>
              <a:t>compatível</a:t>
            </a:r>
            <a:r>
              <a:rPr sz="1400" dirty="0"/>
              <a:t> com </a:t>
            </a:r>
            <a:r>
              <a:rPr sz="1400" dirty="0" err="1"/>
              <a:t>parâmetros</a:t>
            </a:r>
            <a:r>
              <a:rPr sz="1400" dirty="0"/>
              <a:t> de </a:t>
            </a:r>
            <a:r>
              <a:rPr sz="1400" dirty="0" err="1"/>
              <a:t>transversalidade</a:t>
            </a:r>
            <a:r>
              <a:rPr sz="1400" dirty="0"/>
              <a:t>, </a:t>
            </a:r>
            <a:r>
              <a:rPr sz="1400" dirty="0" err="1"/>
              <a:t>coerência</a:t>
            </a:r>
            <a:r>
              <a:rPr sz="1400" dirty="0"/>
              <a:t> </a:t>
            </a:r>
            <a:r>
              <a:rPr sz="1400" dirty="0" err="1"/>
              <a:t>funcional</a:t>
            </a:r>
            <a:r>
              <a:rPr sz="1400" dirty="0"/>
              <a:t> e </a:t>
            </a:r>
            <a:r>
              <a:rPr sz="1400" dirty="0" err="1"/>
              <a:t>racionalidade</a:t>
            </a:r>
            <a:r>
              <a:rPr sz="1400" dirty="0"/>
              <a:t> </a:t>
            </a:r>
            <a:r>
              <a:rPr sz="1400" dirty="0" err="1"/>
              <a:t>organizacional</a:t>
            </a:r>
            <a:r>
              <a:rPr sz="1400" dirty="0"/>
              <a:t>.</a:t>
            </a:r>
          </a:p>
          <a:p>
            <a:pPr lvl="0"/>
            <a:r>
              <a:rPr sz="1400" dirty="0"/>
              <a:t>Percentual de </a:t>
            </a:r>
            <a:r>
              <a:rPr sz="1400" dirty="0" err="1"/>
              <a:t>decisões</a:t>
            </a:r>
            <a:r>
              <a:rPr sz="1400" dirty="0"/>
              <a:t> </a:t>
            </a:r>
            <a:r>
              <a:rPr sz="1400" dirty="0" err="1"/>
              <a:t>estratégicas</a:t>
            </a:r>
            <a:r>
              <a:rPr sz="1400" dirty="0"/>
              <a:t> </a:t>
            </a:r>
            <a:r>
              <a:rPr sz="1400" dirty="0" err="1"/>
              <a:t>sobre</a:t>
            </a:r>
            <a:r>
              <a:rPr sz="1400" dirty="0"/>
              <a:t> </a:t>
            </a:r>
            <a:r>
              <a:rPr sz="1400" dirty="0" err="1"/>
              <a:t>carreiras</a:t>
            </a:r>
            <a:r>
              <a:rPr sz="1400" dirty="0"/>
              <a:t> </a:t>
            </a:r>
            <a:r>
              <a:rPr sz="1400" dirty="0" err="1"/>
              <a:t>submetidas</a:t>
            </a:r>
            <a:r>
              <a:rPr sz="1400" dirty="0"/>
              <a:t> a </a:t>
            </a:r>
            <a:r>
              <a:rPr sz="1400" dirty="0" err="1"/>
              <a:t>critérios</a:t>
            </a:r>
            <a:r>
              <a:rPr sz="1400" dirty="0"/>
              <a:t> e </a:t>
            </a:r>
            <a:r>
              <a:rPr sz="1400" dirty="0" err="1"/>
              <a:t>fluxos</a:t>
            </a:r>
            <a:r>
              <a:rPr sz="1400" dirty="0"/>
              <a:t> </a:t>
            </a:r>
            <a:r>
              <a:rPr sz="1400" dirty="0" err="1"/>
              <a:t>institucionalizados</a:t>
            </a:r>
            <a:r>
              <a:rPr sz="1400" dirty="0"/>
              <a:t>.</a:t>
            </a:r>
          </a:p>
          <a:p>
            <a:pPr lvl="0"/>
            <a:r>
              <a:rPr sz="1400" dirty="0"/>
              <a:t>Percentual de </a:t>
            </a:r>
            <a:r>
              <a:rPr sz="1400" dirty="0" err="1"/>
              <a:t>carreiras</a:t>
            </a:r>
            <a:r>
              <a:rPr sz="1400" dirty="0"/>
              <a:t> com </a:t>
            </a:r>
            <a:r>
              <a:rPr sz="1400" dirty="0" err="1"/>
              <a:t>critérios</a:t>
            </a:r>
            <a:r>
              <a:rPr sz="1400" dirty="0"/>
              <a:t> </a:t>
            </a:r>
            <a:r>
              <a:rPr sz="1400" dirty="0" err="1"/>
              <a:t>formalizados</a:t>
            </a:r>
            <a:r>
              <a:rPr sz="1400" dirty="0"/>
              <a:t> e </a:t>
            </a:r>
            <a:r>
              <a:rPr sz="1400" dirty="0" err="1"/>
              <a:t>transparentes</a:t>
            </a:r>
            <a:r>
              <a:rPr sz="1400" dirty="0"/>
              <a:t> de </a:t>
            </a:r>
            <a:r>
              <a:rPr sz="1400" dirty="0" err="1"/>
              <a:t>progressão</a:t>
            </a:r>
            <a:r>
              <a:rPr sz="1400" dirty="0"/>
              <a:t>/</a:t>
            </a:r>
            <a:r>
              <a:rPr sz="1400" dirty="0" err="1"/>
              <a:t>promoção</a:t>
            </a:r>
            <a:endParaRPr sz="1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sz="1400" dirty="0" err="1"/>
              <a:t>Proposta</a:t>
            </a:r>
            <a:endParaRPr sz="1400" dirty="0"/>
          </a:p>
          <a:p>
            <a:pPr lvl="0"/>
            <a:r>
              <a:rPr sz="1400" dirty="0"/>
              <a:t>% do </a:t>
            </a:r>
            <a:r>
              <a:rPr sz="1400" dirty="0" err="1"/>
              <a:t>número</a:t>
            </a:r>
            <a:r>
              <a:rPr sz="1400" dirty="0"/>
              <a:t> de cargos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carreiras</a:t>
            </a:r>
            <a:r>
              <a:rPr sz="1400" dirty="0"/>
              <a:t> </a:t>
            </a:r>
            <a:r>
              <a:rPr sz="1400" dirty="0" err="1"/>
              <a:t>transversais</a:t>
            </a:r>
            <a:endParaRPr lang="pt-BR" sz="1400" dirty="0"/>
          </a:p>
          <a:p>
            <a:pPr lvl="1"/>
            <a:r>
              <a:rPr lang="pt-BR" sz="1400" dirty="0"/>
              <a:t>Recorte por raça, gênero, origem territorial</a:t>
            </a:r>
          </a:p>
          <a:p>
            <a:r>
              <a:rPr sz="1400" dirty="0"/>
              <a:t>% do </a:t>
            </a:r>
            <a:r>
              <a:rPr sz="1400" dirty="0" err="1"/>
              <a:t>número</a:t>
            </a:r>
            <a:r>
              <a:rPr sz="1400" dirty="0"/>
              <a:t> de cargos no PGPE e </a:t>
            </a:r>
            <a:r>
              <a:rPr sz="1400" dirty="0" err="1"/>
              <a:t>em</a:t>
            </a:r>
            <a:r>
              <a:rPr sz="1400" dirty="0"/>
              <a:t> Plano de Cargos </a:t>
            </a:r>
            <a:r>
              <a:rPr sz="1400" dirty="0" err="1"/>
              <a:t>Especiais</a:t>
            </a:r>
            <a:r>
              <a:rPr sz="1400" dirty="0"/>
              <a:t> (</a:t>
            </a:r>
            <a:r>
              <a:rPr sz="1400" dirty="0" err="1"/>
              <a:t>sem</a:t>
            </a:r>
            <a:r>
              <a:rPr sz="1400" dirty="0"/>
              <a:t> </a:t>
            </a:r>
            <a:r>
              <a:rPr sz="1400" dirty="0" err="1"/>
              <a:t>carreiras</a:t>
            </a:r>
            <a:r>
              <a:rPr sz="1400" dirty="0"/>
              <a:t>)</a:t>
            </a:r>
          </a:p>
          <a:p>
            <a:pPr lvl="0"/>
            <a:r>
              <a:rPr sz="1400" dirty="0"/>
              <a:t>% do </a:t>
            </a:r>
            <a:r>
              <a:rPr sz="1400" dirty="0" err="1"/>
              <a:t>número</a:t>
            </a:r>
            <a:r>
              <a:rPr sz="1400" dirty="0"/>
              <a:t> de </a:t>
            </a:r>
            <a:r>
              <a:rPr sz="1400" dirty="0" err="1"/>
              <a:t>servidores</a:t>
            </a:r>
            <a:r>
              <a:rPr sz="1400" dirty="0"/>
              <a:t> </a:t>
            </a:r>
            <a:r>
              <a:rPr sz="1400" dirty="0" err="1"/>
              <a:t>ativos</a:t>
            </a:r>
            <a:r>
              <a:rPr sz="1400" dirty="0"/>
              <a:t> no PGPE e Plano de Cargos </a:t>
            </a:r>
            <a:r>
              <a:rPr sz="1400" dirty="0" err="1"/>
              <a:t>Especiais</a:t>
            </a:r>
            <a:endParaRPr sz="1400" dirty="0"/>
          </a:p>
          <a:p>
            <a:pPr lvl="0"/>
            <a:r>
              <a:rPr sz="1400" dirty="0"/>
              <a:t>tempo </a:t>
            </a:r>
            <a:r>
              <a:rPr sz="1400" dirty="0" err="1"/>
              <a:t>médio</a:t>
            </a:r>
            <a:r>
              <a:rPr sz="1400" dirty="0"/>
              <a:t> de </a:t>
            </a:r>
            <a:r>
              <a:rPr sz="1400" dirty="0" err="1"/>
              <a:t>permanência</a:t>
            </a:r>
            <a:r>
              <a:rPr sz="1400" dirty="0"/>
              <a:t> dos </a:t>
            </a:r>
            <a:r>
              <a:rPr sz="1400" dirty="0" err="1"/>
              <a:t>servidores</a:t>
            </a:r>
            <a:r>
              <a:rPr sz="1400" dirty="0"/>
              <a:t> de </a:t>
            </a:r>
            <a:r>
              <a:rPr sz="1400" dirty="0" err="1"/>
              <a:t>carreiras</a:t>
            </a:r>
            <a:r>
              <a:rPr sz="1400" dirty="0"/>
              <a:t> </a:t>
            </a:r>
            <a:r>
              <a:rPr sz="1400" dirty="0" err="1"/>
              <a:t>transversais</a:t>
            </a:r>
            <a:r>
              <a:rPr sz="1400" dirty="0"/>
              <a:t> / </a:t>
            </a:r>
            <a:r>
              <a:rPr sz="1400" dirty="0" err="1"/>
              <a:t>não</a:t>
            </a:r>
            <a:r>
              <a:rPr sz="1400" dirty="0"/>
              <a:t> </a:t>
            </a:r>
            <a:r>
              <a:rPr sz="1400" dirty="0" err="1"/>
              <a:t>transversais</a:t>
            </a:r>
            <a:r>
              <a:rPr sz="1400" dirty="0"/>
              <a:t> (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áreas</a:t>
            </a:r>
            <a:r>
              <a:rPr sz="1400" dirty="0"/>
              <a:t> </a:t>
            </a:r>
            <a:r>
              <a:rPr sz="1400" dirty="0" err="1"/>
              <a:t>temáticas</a:t>
            </a:r>
            <a:r>
              <a:rPr sz="1400" dirty="0"/>
              <a:t>,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órgãos</a:t>
            </a:r>
            <a:r>
              <a:rPr sz="1400" dirty="0"/>
              <a:t>,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secretarias</a:t>
            </a:r>
            <a:r>
              <a:rPr sz="1400" dirty="0"/>
              <a:t>)</a:t>
            </a:r>
          </a:p>
          <a:p>
            <a:pPr lvl="0"/>
            <a:r>
              <a:rPr sz="1400" dirty="0" err="1"/>
              <a:t>Vozes</a:t>
            </a:r>
            <a:r>
              <a:rPr lang="pt-BR" sz="1400" dirty="0"/>
              <a:t>:</a:t>
            </a:r>
          </a:p>
          <a:p>
            <a:pPr lvl="1"/>
            <a:r>
              <a:rPr sz="1400" dirty="0"/>
              <a:t> </a:t>
            </a:r>
            <a:r>
              <a:rPr sz="1400" dirty="0" err="1"/>
              <a:t>justiça</a:t>
            </a:r>
            <a:r>
              <a:rPr sz="1400" dirty="0"/>
              <a:t> </a:t>
            </a:r>
            <a:r>
              <a:rPr sz="1400" dirty="0" err="1"/>
              <a:t>remuneratória</a:t>
            </a:r>
            <a:endParaRPr lang="pt-BR" sz="1400" dirty="0"/>
          </a:p>
          <a:p>
            <a:pPr lvl="1"/>
            <a:r>
              <a:rPr sz="1400" dirty="0" err="1"/>
              <a:t>Vozes</a:t>
            </a:r>
            <a:r>
              <a:rPr sz="1400" dirty="0"/>
              <a:t> - </a:t>
            </a:r>
            <a:r>
              <a:rPr sz="1400" dirty="0" err="1"/>
              <a:t>Critérios</a:t>
            </a:r>
            <a:r>
              <a:rPr sz="1400" dirty="0"/>
              <a:t> de </a:t>
            </a:r>
            <a:r>
              <a:rPr sz="1400" dirty="0" err="1"/>
              <a:t>promoção</a:t>
            </a:r>
            <a:endParaRPr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Dimensão 3: Alocação, ambientação e bem-estar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dirty="0"/>
              <a:t>Como </a:t>
            </a:r>
            <a:r>
              <a:rPr dirty="0" err="1"/>
              <a:t>Estava</a:t>
            </a:r>
            <a:endParaRPr dirty="0"/>
          </a:p>
          <a:p>
            <a:pPr lvl="0"/>
            <a:r>
              <a:rPr dirty="0"/>
              <a:t>Percentual de </a:t>
            </a:r>
            <a:r>
              <a:rPr dirty="0" err="1"/>
              <a:t>novos</a:t>
            </a:r>
            <a:r>
              <a:rPr dirty="0"/>
              <a:t> </a:t>
            </a:r>
            <a:r>
              <a:rPr dirty="0" err="1"/>
              <a:t>ingressantes</a:t>
            </a:r>
            <a:r>
              <a:rPr dirty="0"/>
              <a:t> </a:t>
            </a:r>
            <a:r>
              <a:rPr dirty="0" err="1"/>
              <a:t>alocados</a:t>
            </a:r>
            <a:r>
              <a:rPr dirty="0"/>
              <a:t> com base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perfil</a:t>
            </a:r>
            <a:r>
              <a:rPr dirty="0"/>
              <a:t> </a:t>
            </a:r>
            <a:r>
              <a:rPr dirty="0" err="1"/>
              <a:t>profissiográfico</a:t>
            </a:r>
            <a:endParaRPr dirty="0"/>
          </a:p>
          <a:p>
            <a:pPr lvl="0"/>
            <a:r>
              <a:rPr dirty="0"/>
              <a:t>Percentual de </a:t>
            </a:r>
            <a:r>
              <a:rPr dirty="0" err="1"/>
              <a:t>órgãos</a:t>
            </a:r>
            <a:r>
              <a:rPr dirty="0"/>
              <a:t> com </a:t>
            </a:r>
            <a:r>
              <a:rPr dirty="0" err="1"/>
              <a:t>processo</a:t>
            </a:r>
            <a:r>
              <a:rPr dirty="0"/>
              <a:t> </a:t>
            </a:r>
            <a:r>
              <a:rPr dirty="0" err="1"/>
              <a:t>estruturado</a:t>
            </a:r>
            <a:r>
              <a:rPr dirty="0"/>
              <a:t> de </a:t>
            </a:r>
            <a:r>
              <a:rPr dirty="0" err="1"/>
              <a:t>alocação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e </a:t>
            </a:r>
            <a:r>
              <a:rPr dirty="0" err="1"/>
              <a:t>ambientação</a:t>
            </a:r>
            <a:r>
              <a:rPr dirty="0"/>
              <a:t> </a:t>
            </a:r>
            <a:r>
              <a:rPr dirty="0" err="1"/>
              <a:t>institucional</a:t>
            </a:r>
            <a:endParaRPr dirty="0"/>
          </a:p>
          <a:p>
            <a:pPr lvl="0"/>
            <a:r>
              <a:rPr dirty="0"/>
              <a:t>Percentual de </a:t>
            </a:r>
            <a:r>
              <a:rPr dirty="0" err="1"/>
              <a:t>recém-ingressos</a:t>
            </a:r>
            <a:r>
              <a:rPr dirty="0"/>
              <a:t> </a:t>
            </a:r>
            <a:r>
              <a:rPr dirty="0" err="1"/>
              <a:t>alcançados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ações</a:t>
            </a:r>
            <a:r>
              <a:rPr dirty="0"/>
              <a:t> de </a:t>
            </a:r>
            <a:r>
              <a:rPr dirty="0" err="1"/>
              <a:t>desenvolvimento</a:t>
            </a:r>
            <a:r>
              <a:rPr dirty="0"/>
              <a:t> no </a:t>
            </a:r>
            <a:r>
              <a:rPr dirty="0" err="1"/>
              <a:t>estágio</a:t>
            </a:r>
            <a:r>
              <a:rPr dirty="0"/>
              <a:t> </a:t>
            </a:r>
            <a:r>
              <a:rPr dirty="0" err="1"/>
              <a:t>probatório</a:t>
            </a:r>
            <a:endParaRPr dirty="0"/>
          </a:p>
          <a:p>
            <a:pPr lvl="0"/>
            <a:r>
              <a:rPr dirty="0"/>
              <a:t>Percentual de </a:t>
            </a:r>
            <a:r>
              <a:rPr dirty="0" err="1"/>
              <a:t>recém-ingressos</a:t>
            </a:r>
            <a:r>
              <a:rPr dirty="0"/>
              <a:t> </a:t>
            </a:r>
            <a:r>
              <a:rPr dirty="0" err="1"/>
              <a:t>matriculados</a:t>
            </a:r>
            <a:r>
              <a:rPr dirty="0"/>
              <a:t> no PDI</a:t>
            </a:r>
          </a:p>
          <a:p>
            <a:pPr lvl="0"/>
            <a:r>
              <a:rPr dirty="0"/>
              <a:t>Percentual de </a:t>
            </a:r>
            <a:r>
              <a:rPr dirty="0" err="1"/>
              <a:t>órgãos</a:t>
            </a:r>
            <a:r>
              <a:rPr dirty="0"/>
              <a:t> </a:t>
            </a:r>
            <a:r>
              <a:rPr dirty="0" err="1"/>
              <a:t>cobertos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ações</a:t>
            </a:r>
            <a:r>
              <a:rPr dirty="0"/>
              <a:t> </a:t>
            </a:r>
            <a:r>
              <a:rPr dirty="0" err="1"/>
              <a:t>estruturadas</a:t>
            </a:r>
            <a:r>
              <a:rPr dirty="0"/>
              <a:t> de </a:t>
            </a:r>
            <a:r>
              <a:rPr dirty="0" err="1"/>
              <a:t>promoção</a:t>
            </a:r>
            <a:r>
              <a:rPr dirty="0"/>
              <a:t> da </a:t>
            </a:r>
            <a:r>
              <a:rPr dirty="0" err="1"/>
              <a:t>saúde</a:t>
            </a:r>
            <a:endParaRPr dirty="0"/>
          </a:p>
          <a:p>
            <a:pPr lvl="0"/>
            <a:r>
              <a:rPr dirty="0"/>
              <a:t>Percentual de </a:t>
            </a:r>
            <a:r>
              <a:rPr dirty="0" err="1"/>
              <a:t>órgãos</a:t>
            </a:r>
            <a:r>
              <a:rPr dirty="0"/>
              <a:t> com </a:t>
            </a:r>
            <a:r>
              <a:rPr dirty="0" err="1"/>
              <a:t>estratégias</a:t>
            </a:r>
            <a:r>
              <a:rPr dirty="0"/>
              <a:t> de </a:t>
            </a:r>
            <a:r>
              <a:rPr dirty="0" err="1"/>
              <a:t>prevenção</a:t>
            </a:r>
            <a:r>
              <a:rPr dirty="0"/>
              <a:t> e </a:t>
            </a:r>
            <a:r>
              <a:rPr dirty="0" err="1"/>
              <a:t>enfrentamento</a:t>
            </a:r>
            <a:r>
              <a:rPr dirty="0"/>
              <a:t> do </a:t>
            </a:r>
            <a:r>
              <a:rPr dirty="0" err="1"/>
              <a:t>assédio</a:t>
            </a:r>
            <a:r>
              <a:rPr dirty="0"/>
              <a:t> e da </a:t>
            </a:r>
            <a:r>
              <a:rPr dirty="0" err="1"/>
              <a:t>discriminação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dirty="0" err="1"/>
              <a:t>Proposta</a:t>
            </a:r>
            <a:endParaRPr dirty="0"/>
          </a:p>
          <a:p>
            <a:pPr lvl="0"/>
            <a:r>
              <a:rPr dirty="0" err="1"/>
              <a:t>indicadores</a:t>
            </a:r>
            <a:r>
              <a:rPr dirty="0"/>
              <a:t> de turnover;</a:t>
            </a:r>
          </a:p>
          <a:p>
            <a:pPr lvl="0"/>
            <a:r>
              <a:rPr dirty="0"/>
              <a:t>Taxa de </a:t>
            </a:r>
            <a:r>
              <a:rPr dirty="0" err="1"/>
              <a:t>absenteísmo</a:t>
            </a:r>
            <a:r>
              <a:rPr dirty="0"/>
              <a:t>;</a:t>
            </a:r>
          </a:p>
          <a:p>
            <a:pPr lvl="0"/>
            <a:r>
              <a:rPr dirty="0"/>
              <a:t>Taxa de </a:t>
            </a:r>
            <a:r>
              <a:rPr dirty="0" err="1"/>
              <a:t>absenteísmo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determinadas</a:t>
            </a:r>
            <a:r>
              <a:rPr dirty="0"/>
              <a:t> CID´s;</a:t>
            </a:r>
          </a:p>
          <a:p>
            <a:pPr lvl="0"/>
            <a:r>
              <a:rPr dirty="0"/>
              <a:t>% de </a:t>
            </a:r>
            <a:r>
              <a:rPr dirty="0" err="1"/>
              <a:t>servidores</a:t>
            </a:r>
            <a:r>
              <a:rPr dirty="0"/>
              <a:t> </a:t>
            </a:r>
            <a:r>
              <a:rPr dirty="0" err="1"/>
              <a:t>submetidos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mapeamento</a:t>
            </a:r>
            <a:r>
              <a:rPr dirty="0"/>
              <a:t> do </a:t>
            </a:r>
            <a:r>
              <a:rPr dirty="0" err="1"/>
              <a:t>perfil</a:t>
            </a:r>
            <a:r>
              <a:rPr dirty="0"/>
              <a:t> de </a:t>
            </a:r>
            <a:r>
              <a:rPr dirty="0" err="1"/>
              <a:t>competências</a:t>
            </a:r>
            <a:r>
              <a:rPr dirty="0"/>
              <a:t> / </a:t>
            </a:r>
            <a:r>
              <a:rPr dirty="0" err="1"/>
              <a:t>perfil</a:t>
            </a:r>
            <a:r>
              <a:rPr dirty="0"/>
              <a:t> </a:t>
            </a:r>
            <a:r>
              <a:rPr dirty="0" err="1"/>
              <a:t>profissiográfico</a:t>
            </a:r>
            <a:endParaRPr dirty="0"/>
          </a:p>
          <a:p>
            <a:pPr lvl="0"/>
            <a:r>
              <a:rPr dirty="0" err="1"/>
              <a:t>Vozes</a:t>
            </a:r>
            <a:r>
              <a:rPr dirty="0"/>
              <a:t> - </a:t>
            </a:r>
            <a:r>
              <a:rPr dirty="0" err="1"/>
              <a:t>segurança</a:t>
            </a:r>
            <a:r>
              <a:rPr dirty="0"/>
              <a:t> </a:t>
            </a:r>
            <a:r>
              <a:rPr dirty="0" err="1"/>
              <a:t>psicológica</a:t>
            </a:r>
            <a:r>
              <a:rPr dirty="0"/>
              <a:t>: Na </a:t>
            </a:r>
            <a:r>
              <a:rPr dirty="0" err="1"/>
              <a:t>minha</a:t>
            </a:r>
            <a:r>
              <a:rPr dirty="0"/>
              <a:t> equipe, as </a:t>
            </a:r>
            <a:r>
              <a:rPr dirty="0" err="1"/>
              <a:t>pessoas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acolhidas</a:t>
            </a:r>
            <a:r>
              <a:rPr dirty="0"/>
              <a:t>.; É </a:t>
            </a:r>
            <a:r>
              <a:rPr dirty="0" err="1"/>
              <a:t>fácil</a:t>
            </a:r>
            <a:r>
              <a:rPr dirty="0"/>
              <a:t> </a:t>
            </a:r>
            <a:r>
              <a:rPr dirty="0" err="1"/>
              <a:t>pedir</a:t>
            </a:r>
            <a:r>
              <a:rPr dirty="0"/>
              <a:t> </a:t>
            </a:r>
            <a:r>
              <a:rPr dirty="0" err="1"/>
              <a:t>ajuda</a:t>
            </a:r>
            <a:r>
              <a:rPr dirty="0"/>
              <a:t> a outros </a:t>
            </a:r>
            <a:r>
              <a:rPr dirty="0" err="1"/>
              <a:t>membros</a:t>
            </a:r>
            <a:r>
              <a:rPr dirty="0"/>
              <a:t> dessa equipe.; </a:t>
            </a:r>
            <a:r>
              <a:rPr dirty="0" err="1"/>
              <a:t>Membros</a:t>
            </a:r>
            <a:r>
              <a:rPr dirty="0"/>
              <a:t> da </a:t>
            </a:r>
            <a:r>
              <a:rPr dirty="0" err="1"/>
              <a:t>minha</a:t>
            </a:r>
            <a:r>
              <a:rPr dirty="0"/>
              <a:t> equipe </a:t>
            </a:r>
            <a:r>
              <a:rPr dirty="0" err="1"/>
              <a:t>respeitam</a:t>
            </a:r>
            <a:r>
              <a:rPr dirty="0"/>
              <a:t> e </a:t>
            </a:r>
            <a:r>
              <a:rPr dirty="0" err="1"/>
              <a:t>valorizam</a:t>
            </a:r>
            <a:r>
              <a:rPr dirty="0"/>
              <a:t> as </a:t>
            </a:r>
            <a:r>
              <a:rPr dirty="0" err="1"/>
              <a:t>contribuições</a:t>
            </a:r>
            <a:r>
              <a:rPr dirty="0"/>
              <a:t> </a:t>
            </a:r>
            <a:r>
              <a:rPr dirty="0" err="1"/>
              <a:t>uns</a:t>
            </a:r>
            <a:r>
              <a:rPr dirty="0"/>
              <a:t> dos outros.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Dimensão 4: Desenvolvimento e Desempenho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sz="1400" dirty="0"/>
              <a:t>Como </a:t>
            </a:r>
            <a:r>
              <a:rPr sz="1400" dirty="0" err="1"/>
              <a:t>Estava</a:t>
            </a:r>
            <a:endParaRPr sz="1400" dirty="0"/>
          </a:p>
          <a:p>
            <a:pPr lvl="0"/>
            <a:r>
              <a:rPr sz="1400" dirty="0"/>
              <a:t>Percentual de </a:t>
            </a:r>
            <a:r>
              <a:rPr sz="1400" dirty="0" err="1"/>
              <a:t>órgãos</a:t>
            </a:r>
            <a:r>
              <a:rPr sz="1400" dirty="0"/>
              <a:t> e </a:t>
            </a:r>
            <a:r>
              <a:rPr sz="1400" dirty="0" err="1"/>
              <a:t>entidades</a:t>
            </a:r>
            <a:r>
              <a:rPr sz="1400" dirty="0"/>
              <a:t> com PGD </a:t>
            </a:r>
            <a:r>
              <a:rPr sz="1400" dirty="0" err="1"/>
              <a:t>implementado</a:t>
            </a:r>
            <a:r>
              <a:rPr sz="1400" dirty="0"/>
              <a:t>.</a:t>
            </a:r>
          </a:p>
          <a:p>
            <a:pPr lvl="0"/>
            <a:r>
              <a:rPr sz="1400" dirty="0"/>
              <a:t>Percentual de </a:t>
            </a:r>
            <a:r>
              <a:rPr sz="1400" dirty="0" err="1"/>
              <a:t>servidores</a:t>
            </a:r>
            <a:r>
              <a:rPr sz="1400" dirty="0"/>
              <a:t> </a:t>
            </a:r>
            <a:r>
              <a:rPr sz="1400" dirty="0" err="1"/>
              <a:t>abrangidos</a:t>
            </a:r>
            <a:r>
              <a:rPr sz="1400" dirty="0"/>
              <a:t> </a:t>
            </a:r>
            <a:r>
              <a:rPr sz="1400" dirty="0" err="1"/>
              <a:t>por</a:t>
            </a:r>
            <a:r>
              <a:rPr sz="1400" dirty="0"/>
              <a:t> </a:t>
            </a:r>
            <a:r>
              <a:rPr sz="1400" dirty="0" err="1"/>
              <a:t>planos</a:t>
            </a:r>
            <a:r>
              <a:rPr sz="1400" dirty="0"/>
              <a:t> de </a:t>
            </a:r>
            <a:r>
              <a:rPr sz="1400" dirty="0" err="1"/>
              <a:t>trabalho</a:t>
            </a:r>
            <a:r>
              <a:rPr sz="1400" dirty="0"/>
              <a:t> </a:t>
            </a:r>
            <a:r>
              <a:rPr sz="1400" dirty="0" err="1"/>
              <a:t>pactuados</a:t>
            </a:r>
            <a:r>
              <a:rPr sz="1400" dirty="0"/>
              <a:t> </a:t>
            </a:r>
            <a:r>
              <a:rPr sz="1400" dirty="0" err="1"/>
              <a:t>por</a:t>
            </a:r>
            <a:r>
              <a:rPr sz="1400" dirty="0"/>
              <a:t> </a:t>
            </a:r>
            <a:r>
              <a:rPr sz="1400" dirty="0" err="1"/>
              <a:t>entregas</a:t>
            </a:r>
            <a:r>
              <a:rPr sz="1400" dirty="0"/>
              <a:t> (PGD)</a:t>
            </a:r>
          </a:p>
          <a:p>
            <a:pPr lvl="0"/>
            <a:r>
              <a:rPr sz="1400" dirty="0"/>
              <a:t>Percentual de </a:t>
            </a:r>
            <a:r>
              <a:rPr sz="1400" dirty="0" err="1"/>
              <a:t>órgãos</a:t>
            </a:r>
            <a:r>
              <a:rPr sz="1400" dirty="0"/>
              <a:t> com </a:t>
            </a:r>
            <a:r>
              <a:rPr sz="1400" dirty="0" err="1"/>
              <a:t>uso</a:t>
            </a:r>
            <a:r>
              <a:rPr sz="1400" dirty="0"/>
              <a:t> </a:t>
            </a:r>
            <a:r>
              <a:rPr sz="1400" dirty="0" err="1"/>
              <a:t>sistemático</a:t>
            </a:r>
            <a:r>
              <a:rPr sz="1400" dirty="0"/>
              <a:t> de </a:t>
            </a:r>
            <a:r>
              <a:rPr sz="1400" dirty="0" err="1"/>
              <a:t>informações</a:t>
            </a:r>
            <a:r>
              <a:rPr sz="1400" dirty="0"/>
              <a:t> de </a:t>
            </a:r>
            <a:r>
              <a:rPr sz="1400" dirty="0" err="1"/>
              <a:t>desempenho</a:t>
            </a:r>
            <a:r>
              <a:rPr sz="1400" dirty="0"/>
              <a:t> para </a:t>
            </a:r>
            <a:r>
              <a:rPr sz="1400" dirty="0" err="1"/>
              <a:t>tomada</a:t>
            </a:r>
            <a:r>
              <a:rPr sz="1400" dirty="0"/>
              <a:t> de </a:t>
            </a:r>
            <a:r>
              <a:rPr sz="1400" dirty="0" err="1"/>
              <a:t>decisão</a:t>
            </a:r>
            <a:endParaRPr sz="1400" dirty="0"/>
          </a:p>
          <a:p>
            <a:pPr lvl="0"/>
            <a:r>
              <a:rPr sz="1400" dirty="0"/>
              <a:t>Percentual de </a:t>
            </a:r>
            <a:r>
              <a:rPr sz="1400" dirty="0" err="1"/>
              <a:t>ações</a:t>
            </a:r>
            <a:r>
              <a:rPr sz="1400" dirty="0"/>
              <a:t> de </a:t>
            </a:r>
            <a:r>
              <a:rPr sz="1400" dirty="0" err="1"/>
              <a:t>desenvolvimento</a:t>
            </a:r>
            <a:r>
              <a:rPr sz="1400" dirty="0"/>
              <a:t> </a:t>
            </a:r>
            <a:r>
              <a:rPr sz="1400" dirty="0" err="1"/>
              <a:t>vinculadas</a:t>
            </a:r>
            <a:r>
              <a:rPr sz="1400" dirty="0"/>
              <a:t> a </a:t>
            </a:r>
            <a:r>
              <a:rPr sz="1400" dirty="0" err="1"/>
              <a:t>necessidades</a:t>
            </a:r>
            <a:r>
              <a:rPr sz="1400" dirty="0"/>
              <a:t> </a:t>
            </a:r>
            <a:r>
              <a:rPr sz="1400" dirty="0" err="1"/>
              <a:t>previamente</a:t>
            </a:r>
            <a:r>
              <a:rPr sz="1400" dirty="0"/>
              <a:t> </a:t>
            </a:r>
            <a:r>
              <a:rPr sz="1400" dirty="0" err="1"/>
              <a:t>identificadas</a:t>
            </a:r>
            <a:endParaRPr sz="1400" dirty="0"/>
          </a:p>
          <a:p>
            <a:pPr lvl="0"/>
            <a:r>
              <a:rPr sz="1400" dirty="0"/>
              <a:t>Percentual de </a:t>
            </a:r>
            <a:r>
              <a:rPr sz="1400" dirty="0" err="1"/>
              <a:t>ocupação</a:t>
            </a:r>
            <a:r>
              <a:rPr sz="1400" dirty="0"/>
              <a:t> de </a:t>
            </a:r>
            <a:r>
              <a:rPr sz="1400" dirty="0" err="1"/>
              <a:t>funções</a:t>
            </a:r>
            <a:r>
              <a:rPr sz="1400" dirty="0"/>
              <a:t> </a:t>
            </a:r>
            <a:r>
              <a:rPr sz="1400" dirty="0" err="1"/>
              <a:t>estratégicas</a:t>
            </a:r>
            <a:r>
              <a:rPr sz="1400" dirty="0"/>
              <a:t> via </a:t>
            </a:r>
            <a:r>
              <a:rPr sz="1400" dirty="0" err="1"/>
              <a:t>seleção</a:t>
            </a:r>
            <a:r>
              <a:rPr sz="1400" dirty="0"/>
              <a:t> </a:t>
            </a:r>
            <a:r>
              <a:rPr sz="1400" dirty="0" err="1"/>
              <a:t>estruturada</a:t>
            </a:r>
            <a:endParaRPr sz="1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sz="1200" dirty="0" err="1"/>
              <a:t>Proposta</a:t>
            </a:r>
            <a:endParaRPr sz="1200" dirty="0"/>
          </a:p>
          <a:p>
            <a:pPr lvl="0"/>
            <a:r>
              <a:rPr sz="1200" dirty="0"/>
              <a:t>% de </a:t>
            </a:r>
            <a:r>
              <a:rPr sz="1200" dirty="0" err="1"/>
              <a:t>servidores</a:t>
            </a:r>
            <a:r>
              <a:rPr sz="1200" dirty="0"/>
              <a:t> </a:t>
            </a:r>
            <a:r>
              <a:rPr sz="1200" dirty="0" err="1"/>
              <a:t>submetidos</a:t>
            </a:r>
            <a:r>
              <a:rPr sz="1200" dirty="0"/>
              <a:t> à </a:t>
            </a:r>
            <a:r>
              <a:rPr sz="1200" dirty="0" err="1"/>
              <a:t>avaliação</a:t>
            </a:r>
            <a:r>
              <a:rPr sz="1200" dirty="0"/>
              <a:t> de </a:t>
            </a:r>
            <a:r>
              <a:rPr sz="1200" dirty="0" err="1"/>
              <a:t>desempenho</a:t>
            </a:r>
            <a:endParaRPr sz="1200" dirty="0"/>
          </a:p>
          <a:p>
            <a:pPr lvl="0"/>
            <a:r>
              <a:rPr sz="1200" dirty="0"/>
              <a:t>% de </a:t>
            </a:r>
            <a:r>
              <a:rPr sz="1200" dirty="0" err="1"/>
              <a:t>servidores</a:t>
            </a:r>
            <a:r>
              <a:rPr sz="1200" dirty="0"/>
              <a:t> </a:t>
            </a:r>
            <a:r>
              <a:rPr sz="1200" dirty="0" err="1"/>
              <a:t>submetidos</a:t>
            </a:r>
            <a:r>
              <a:rPr sz="1200" dirty="0"/>
              <a:t> </a:t>
            </a:r>
            <a:r>
              <a:rPr sz="1200" dirty="0" err="1"/>
              <a:t>ao</a:t>
            </a:r>
            <a:r>
              <a:rPr sz="1200" dirty="0"/>
              <a:t> </a:t>
            </a:r>
            <a:r>
              <a:rPr sz="1200" dirty="0" err="1"/>
              <a:t>mapeamento</a:t>
            </a:r>
            <a:r>
              <a:rPr sz="1200" dirty="0"/>
              <a:t> do </a:t>
            </a:r>
            <a:r>
              <a:rPr sz="1200" dirty="0" err="1"/>
              <a:t>perfil</a:t>
            </a:r>
            <a:r>
              <a:rPr sz="1200" dirty="0"/>
              <a:t> de </a:t>
            </a:r>
            <a:r>
              <a:rPr sz="1200" dirty="0" err="1"/>
              <a:t>competências</a:t>
            </a:r>
            <a:r>
              <a:rPr sz="1200" dirty="0"/>
              <a:t> / </a:t>
            </a:r>
            <a:r>
              <a:rPr sz="1200" dirty="0" err="1"/>
              <a:t>perfil</a:t>
            </a:r>
            <a:r>
              <a:rPr sz="1200" dirty="0"/>
              <a:t> </a:t>
            </a:r>
            <a:r>
              <a:rPr sz="1200" dirty="0" err="1"/>
              <a:t>profissiográfico</a:t>
            </a:r>
            <a:endParaRPr sz="1200" dirty="0"/>
          </a:p>
          <a:p>
            <a:pPr lvl="0"/>
            <a:r>
              <a:rPr sz="1200" dirty="0"/>
              <a:t>% de </a:t>
            </a:r>
            <a:r>
              <a:rPr sz="1200" dirty="0" err="1"/>
              <a:t>órgãos</a:t>
            </a:r>
            <a:r>
              <a:rPr sz="1200" dirty="0"/>
              <a:t> com PNDP </a:t>
            </a:r>
            <a:r>
              <a:rPr sz="1200" dirty="0" err="1"/>
              <a:t>atualizado</a:t>
            </a:r>
            <a:endParaRPr lang="pt-BR" sz="1200" dirty="0"/>
          </a:p>
          <a:p>
            <a:pPr lvl="0"/>
            <a:r>
              <a:rPr sz="1200" dirty="0"/>
              <a:t>% de </a:t>
            </a:r>
            <a:r>
              <a:rPr sz="1200" dirty="0" err="1"/>
              <a:t>servidores</a:t>
            </a:r>
            <a:r>
              <a:rPr sz="1200" dirty="0"/>
              <a:t> </a:t>
            </a:r>
            <a:r>
              <a:rPr sz="1200" dirty="0" err="1"/>
              <a:t>submetidos</a:t>
            </a:r>
            <a:r>
              <a:rPr sz="1200" dirty="0"/>
              <a:t> à </a:t>
            </a:r>
            <a:r>
              <a:rPr sz="1200" dirty="0" err="1"/>
              <a:t>avaliação</a:t>
            </a:r>
            <a:r>
              <a:rPr sz="1200" dirty="0"/>
              <a:t> de </a:t>
            </a:r>
            <a:r>
              <a:rPr sz="1200" dirty="0" err="1"/>
              <a:t>competências</a:t>
            </a:r>
            <a:r>
              <a:rPr sz="1200" dirty="0"/>
              <a:t> de </a:t>
            </a:r>
            <a:r>
              <a:rPr sz="1200" dirty="0" err="1"/>
              <a:t>liderança</a:t>
            </a:r>
            <a:endParaRPr sz="1200" dirty="0"/>
          </a:p>
          <a:p>
            <a:pPr lvl="0"/>
            <a:r>
              <a:rPr sz="1200" dirty="0" err="1"/>
              <a:t>número</a:t>
            </a:r>
            <a:r>
              <a:rPr sz="1200" dirty="0"/>
              <a:t> de </a:t>
            </a:r>
            <a:r>
              <a:rPr sz="1200" dirty="0" err="1"/>
              <a:t>servidores</a:t>
            </a:r>
            <a:r>
              <a:rPr sz="1200" dirty="0"/>
              <a:t> </a:t>
            </a:r>
            <a:r>
              <a:rPr sz="1200" dirty="0" err="1"/>
              <a:t>formados</a:t>
            </a:r>
            <a:r>
              <a:rPr sz="1200" dirty="0"/>
              <a:t> </a:t>
            </a:r>
            <a:r>
              <a:rPr sz="1200" dirty="0" err="1"/>
              <a:t>pelo</a:t>
            </a:r>
            <a:r>
              <a:rPr sz="1200" dirty="0"/>
              <a:t> </a:t>
            </a:r>
            <a:r>
              <a:rPr sz="1200" dirty="0" err="1"/>
              <a:t>LideraGov</a:t>
            </a:r>
            <a:r>
              <a:rPr sz="1200" dirty="0"/>
              <a:t> </a:t>
            </a:r>
            <a:r>
              <a:rPr sz="1200" dirty="0" err="1"/>
              <a:t>por</a:t>
            </a:r>
            <a:r>
              <a:rPr sz="1200" dirty="0"/>
              <a:t>: 1) </a:t>
            </a:r>
            <a:r>
              <a:rPr sz="1200" dirty="0" err="1"/>
              <a:t>gênero</a:t>
            </a:r>
            <a:r>
              <a:rPr sz="1200" dirty="0"/>
              <a:t>; 2) </a:t>
            </a:r>
            <a:r>
              <a:rPr sz="1200" dirty="0" err="1"/>
              <a:t>raça</a:t>
            </a:r>
            <a:r>
              <a:rPr sz="1200" dirty="0"/>
              <a:t>; 3) </a:t>
            </a:r>
            <a:r>
              <a:rPr sz="1200" dirty="0" err="1"/>
              <a:t>origem</a:t>
            </a:r>
            <a:r>
              <a:rPr sz="1200" dirty="0"/>
              <a:t> territorial; 4) </a:t>
            </a:r>
            <a:r>
              <a:rPr sz="1200" dirty="0" err="1"/>
              <a:t>faixa</a:t>
            </a:r>
            <a:r>
              <a:rPr sz="1200" dirty="0"/>
              <a:t> </a:t>
            </a:r>
            <a:r>
              <a:rPr sz="1200" dirty="0" err="1"/>
              <a:t>etária</a:t>
            </a:r>
            <a:endParaRPr sz="1200" dirty="0"/>
          </a:p>
          <a:p>
            <a:pPr lvl="0"/>
            <a:r>
              <a:rPr sz="1200" dirty="0"/>
              <a:t>% de cargos de </a:t>
            </a:r>
            <a:r>
              <a:rPr sz="1200" dirty="0" err="1"/>
              <a:t>liderança</a:t>
            </a:r>
            <a:r>
              <a:rPr sz="1200" dirty="0"/>
              <a:t> </a:t>
            </a:r>
            <a:r>
              <a:rPr sz="1200" dirty="0" err="1"/>
              <a:t>reservados</a:t>
            </a:r>
            <a:r>
              <a:rPr lang="pt-BR" sz="1200" dirty="0"/>
              <a:t>/ocupados </a:t>
            </a:r>
            <a:r>
              <a:rPr sz="1200" dirty="0" err="1"/>
              <a:t>servidores</a:t>
            </a:r>
            <a:r>
              <a:rPr sz="1200" dirty="0"/>
              <a:t> </a:t>
            </a:r>
            <a:r>
              <a:rPr sz="1200" dirty="0" err="1"/>
              <a:t>estatutários</a:t>
            </a:r>
            <a:endParaRPr sz="1200" dirty="0"/>
          </a:p>
          <a:p>
            <a:pPr lvl="0"/>
            <a:r>
              <a:rPr sz="1200" dirty="0"/>
              <a:t>% de cargos de </a:t>
            </a:r>
            <a:r>
              <a:rPr sz="1200" dirty="0" err="1"/>
              <a:t>liderança</a:t>
            </a:r>
            <a:r>
              <a:rPr sz="1200" dirty="0"/>
              <a:t> </a:t>
            </a:r>
            <a:r>
              <a:rPr sz="1200" dirty="0" err="1"/>
              <a:t>reservados</a:t>
            </a:r>
            <a:r>
              <a:rPr lang="pt-BR" sz="1200" dirty="0"/>
              <a:t> /ocupados</a:t>
            </a:r>
            <a:r>
              <a:rPr sz="1200" dirty="0"/>
              <a:t> </a:t>
            </a:r>
            <a:r>
              <a:rPr sz="1200" dirty="0" err="1"/>
              <a:t>mulheres</a:t>
            </a:r>
            <a:r>
              <a:rPr lang="pt-BR" sz="1200" dirty="0"/>
              <a:t>/negros/origem territorial</a:t>
            </a:r>
            <a:r>
              <a:rPr sz="1200" dirty="0" err="1"/>
              <a:t>indicadores</a:t>
            </a:r>
            <a:r>
              <a:rPr sz="1200" dirty="0"/>
              <a:t> de turnover de </a:t>
            </a:r>
            <a:r>
              <a:rPr sz="1200" dirty="0" err="1"/>
              <a:t>lideranças</a:t>
            </a:r>
            <a:endParaRPr sz="1200" dirty="0"/>
          </a:p>
          <a:p>
            <a:pPr lvl="0"/>
            <a:r>
              <a:rPr sz="1200" dirty="0" err="1"/>
              <a:t>Vozes</a:t>
            </a:r>
            <a:r>
              <a:rPr sz="1200" dirty="0"/>
              <a:t> </a:t>
            </a:r>
            <a:r>
              <a:rPr lang="pt-BR" sz="1200" dirty="0"/>
              <a:t>–</a:t>
            </a:r>
            <a:r>
              <a:rPr sz="1200" dirty="0"/>
              <a:t> </a:t>
            </a:r>
            <a:r>
              <a:rPr lang="pt-BR" sz="1200" dirty="0"/>
              <a:t>Oportunidades para treinamento</a:t>
            </a:r>
            <a:endParaRPr sz="1200" dirty="0"/>
          </a:p>
          <a:p>
            <a:pPr lvl="0"/>
            <a:r>
              <a:rPr sz="1200" dirty="0" err="1"/>
              <a:t>Vozes</a:t>
            </a:r>
            <a:r>
              <a:rPr sz="1200" dirty="0"/>
              <a:t> - </a:t>
            </a:r>
            <a:r>
              <a:rPr sz="1200" dirty="0" err="1"/>
              <a:t>Liderança</a:t>
            </a:r>
            <a:endParaRPr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Dimensão 5: Remuneração e Incentivos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sz="1600" dirty="0"/>
              <a:t>Como </a:t>
            </a:r>
            <a:r>
              <a:rPr sz="1600" dirty="0" err="1"/>
              <a:t>Estava</a:t>
            </a:r>
            <a:endParaRPr sz="1600" dirty="0"/>
          </a:p>
          <a:p>
            <a:pPr lvl="0"/>
            <a:r>
              <a:rPr sz="1600" dirty="0" err="1"/>
              <a:t>Existência</a:t>
            </a:r>
            <a:r>
              <a:rPr sz="1600" dirty="0"/>
              <a:t> de </a:t>
            </a:r>
            <a:r>
              <a:rPr sz="1600" dirty="0" err="1"/>
              <a:t>diretrizes</a:t>
            </a:r>
            <a:r>
              <a:rPr sz="1600" dirty="0"/>
              <a:t> </a:t>
            </a:r>
            <a:r>
              <a:rPr sz="1600" dirty="0" err="1"/>
              <a:t>formalizadas</a:t>
            </a:r>
            <a:r>
              <a:rPr sz="1600" dirty="0"/>
              <a:t> para a </a:t>
            </a:r>
            <a:r>
              <a:rPr sz="1600" dirty="0" err="1"/>
              <a:t>política</a:t>
            </a:r>
            <a:r>
              <a:rPr sz="1600" dirty="0"/>
              <a:t> </a:t>
            </a:r>
            <a:r>
              <a:rPr sz="1600" dirty="0" err="1"/>
              <a:t>remuneratória</a:t>
            </a:r>
            <a:r>
              <a:rPr sz="1600" dirty="0"/>
              <a:t>.</a:t>
            </a:r>
          </a:p>
          <a:p>
            <a:pPr lvl="0"/>
            <a:r>
              <a:rPr sz="1600" dirty="0"/>
              <a:t>Percentual de </a:t>
            </a:r>
            <a:r>
              <a:rPr sz="1600" dirty="0" err="1"/>
              <a:t>estruturas</a:t>
            </a:r>
            <a:r>
              <a:rPr sz="1600" dirty="0"/>
              <a:t> </a:t>
            </a:r>
            <a:r>
              <a:rPr sz="1600" dirty="0" err="1"/>
              <a:t>remuneratórias</a:t>
            </a:r>
            <a:r>
              <a:rPr sz="1600" dirty="0"/>
              <a:t> </a:t>
            </a:r>
            <a:r>
              <a:rPr sz="1600" dirty="0" err="1"/>
              <a:t>monitoradas</a:t>
            </a:r>
            <a:r>
              <a:rPr sz="1600" dirty="0"/>
              <a:t> </a:t>
            </a:r>
            <a:r>
              <a:rPr sz="1600" dirty="0" err="1"/>
              <a:t>por</a:t>
            </a:r>
            <a:r>
              <a:rPr sz="1600" dirty="0"/>
              <a:t> </a:t>
            </a:r>
            <a:r>
              <a:rPr sz="1600" dirty="0" err="1"/>
              <a:t>sistema</a:t>
            </a:r>
            <a:r>
              <a:rPr sz="1600" dirty="0"/>
              <a:t> </a:t>
            </a:r>
            <a:r>
              <a:rPr sz="1600" dirty="0" err="1"/>
              <a:t>integrado</a:t>
            </a:r>
            <a:endParaRPr sz="1600" dirty="0"/>
          </a:p>
          <a:p>
            <a:pPr lvl="0"/>
            <a:r>
              <a:rPr sz="1600" dirty="0" err="1"/>
              <a:t>Assimetrias</a:t>
            </a:r>
            <a:r>
              <a:rPr sz="1600" dirty="0"/>
              <a:t> </a:t>
            </a:r>
            <a:r>
              <a:rPr sz="1600" dirty="0" err="1"/>
              <a:t>injustificadas</a:t>
            </a:r>
            <a:r>
              <a:rPr sz="1600" dirty="0"/>
              <a:t> entre </a:t>
            </a:r>
            <a:r>
              <a:rPr sz="1600" dirty="0" err="1"/>
              <a:t>carreiras</a:t>
            </a:r>
            <a:r>
              <a:rPr sz="1600" dirty="0"/>
              <a:t> de </a:t>
            </a:r>
            <a:r>
              <a:rPr sz="1600" dirty="0" err="1"/>
              <a:t>natureza</a:t>
            </a:r>
            <a:r>
              <a:rPr sz="1600" dirty="0"/>
              <a:t> </a:t>
            </a:r>
            <a:r>
              <a:rPr sz="1600" dirty="0" err="1"/>
              <a:t>semelhante</a:t>
            </a:r>
            <a:endParaRPr sz="1600" dirty="0"/>
          </a:p>
          <a:p>
            <a:pPr lvl="0"/>
            <a:r>
              <a:rPr sz="1600" dirty="0" err="1"/>
              <a:t>Percepção</a:t>
            </a:r>
            <a:r>
              <a:rPr sz="1600" dirty="0"/>
              <a:t> de </a:t>
            </a:r>
            <a:r>
              <a:rPr sz="1600" dirty="0" err="1"/>
              <a:t>justiça</a:t>
            </a:r>
            <a:r>
              <a:rPr sz="1600" dirty="0"/>
              <a:t> </a:t>
            </a:r>
            <a:r>
              <a:rPr sz="1600" dirty="0" err="1"/>
              <a:t>remuneratória</a:t>
            </a:r>
            <a:endParaRPr sz="16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dirty="0" err="1"/>
              <a:t>Proposta</a:t>
            </a:r>
            <a:endParaRPr dirty="0"/>
          </a:p>
          <a:p>
            <a:pPr lvl="0"/>
            <a:r>
              <a:rPr dirty="0" err="1"/>
              <a:t>índice</a:t>
            </a:r>
            <a:r>
              <a:rPr dirty="0"/>
              <a:t> de </a:t>
            </a:r>
            <a:r>
              <a:rPr dirty="0" err="1"/>
              <a:t>desigualdade</a:t>
            </a:r>
            <a:r>
              <a:rPr dirty="0"/>
              <a:t> </a:t>
            </a:r>
            <a:r>
              <a:rPr dirty="0" err="1"/>
              <a:t>remuneratória</a:t>
            </a:r>
            <a:endParaRPr dirty="0"/>
          </a:p>
          <a:p>
            <a:pPr lvl="0"/>
            <a:r>
              <a:rPr dirty="0" err="1"/>
              <a:t>Vozes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E</a:t>
            </a:r>
            <a:r>
              <a:rPr dirty="0" err="1"/>
              <a:t>ngajamento</a:t>
            </a:r>
            <a:r>
              <a:rPr lang="pt-BR" dirty="0"/>
              <a:t>J</a:t>
            </a:r>
            <a:r>
              <a:rPr dirty="0" err="1"/>
              <a:t>ustiça</a:t>
            </a:r>
            <a:r>
              <a:rPr dirty="0"/>
              <a:t> </a:t>
            </a:r>
            <a:r>
              <a:rPr dirty="0" err="1"/>
              <a:t>remuneratória</a:t>
            </a:r>
            <a:endParaRPr lang="pt-BR" dirty="0"/>
          </a:p>
          <a:p>
            <a:pPr lvl="1"/>
            <a:r>
              <a:rPr lang="pt-BR" dirty="0"/>
              <a:t>Satisfação no trabalho</a:t>
            </a:r>
          </a:p>
          <a:p>
            <a:pPr lvl="1"/>
            <a:r>
              <a:rPr lang="pt-BR" dirty="0"/>
              <a:t>Intenção de saída</a:t>
            </a:r>
          </a:p>
          <a:p>
            <a:pPr lvl="1"/>
            <a:r>
              <a:rPr lang="pt-BR" dirty="0"/>
              <a:t>Motivação</a:t>
            </a:r>
            <a:endParaRPr dirty="0"/>
          </a:p>
          <a:p>
            <a:pPr lvl="0"/>
            <a:r>
              <a:rPr lang="pt-BR" dirty="0"/>
              <a:t>I</a:t>
            </a:r>
            <a:r>
              <a:rPr dirty="0" err="1"/>
              <a:t>ndicador</a:t>
            </a:r>
            <a:r>
              <a:rPr dirty="0"/>
              <a:t> de </a:t>
            </a:r>
            <a:r>
              <a:rPr dirty="0" err="1"/>
              <a:t>valorização</a:t>
            </a:r>
            <a:r>
              <a:rPr dirty="0"/>
              <a:t> e </a:t>
            </a:r>
            <a:r>
              <a:rPr dirty="0" err="1"/>
              <a:t>reconhecimento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pecuniário</a:t>
            </a:r>
            <a:r>
              <a:rPr dirty="0"/>
              <a:t> (?)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Dimensão 6: Aposentadoria e Desligamento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Como Estava</a:t>
            </a:r>
          </a:p>
          <a:p>
            <a:pPr lvl="0"/>
            <a:r>
              <a:t>Percentual de órgãos com ações estruturadas de preparação para a inatividade</a:t>
            </a:r>
          </a:p>
          <a:p>
            <a:pPr lvl="0"/>
            <a:r>
              <a:t>Percentual de assentamentos digitalizados (RPPS)</a:t>
            </a:r>
          </a:p>
          <a:p>
            <a:pPr lvl="0"/>
            <a:r>
              <a:t>Tempo médio de tramitação e atendimento em processos de aposentadoria e pensão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Proposta</a:t>
            </a:r>
          </a:p>
          <a:p>
            <a:pPr lvl="0"/>
            <a:r>
              <a:t>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719</Words>
  <Application>Microsoft Office PowerPoint</Application>
  <PresentationFormat>Apresentação na tela (16:9)</PresentationFormat>
  <Paragraphs>84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Proposta de indicadores PFGP 2030</vt:lpstr>
      <vt:lpstr>Dimensão 1: Planejamento da Força de Trabalho</vt:lpstr>
      <vt:lpstr>Dimensão 2: Carreiras, Cargos e Progressão</vt:lpstr>
      <vt:lpstr>Dimensão 3: Alocação, ambientação e bem-estar</vt:lpstr>
      <vt:lpstr>Dimensão 4: Desenvolvimento e Desempenho</vt:lpstr>
      <vt:lpstr>Dimensão 5: Remuneração e Incentivos</vt:lpstr>
      <vt:lpstr>Dimensão 6: Aposentadoria e Desligamento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de indicadores PFGP 2030</dc:title>
  <dc:creator>CGINF/DIGID</dc:creator>
  <cp:keywords/>
  <cp:lastModifiedBy>Wesley de Jesus Silva</cp:lastModifiedBy>
  <cp:revision>1</cp:revision>
  <dcterms:created xsi:type="dcterms:W3CDTF">2026-05-07T17:37:55Z</dcterms:created>
  <dcterms:modified xsi:type="dcterms:W3CDTF">2026-05-07T17:53:17Z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